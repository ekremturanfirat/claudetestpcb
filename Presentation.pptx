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0" r:id="rId2"/>
    <p:sldId id="322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11" r:id="rId12"/>
    <p:sldId id="312" r:id="rId13"/>
    <p:sldId id="314" r:id="rId14"/>
    <p:sldId id="315" r:id="rId15"/>
    <p:sldId id="316" r:id="rId16"/>
    <p:sldId id="317" r:id="rId17"/>
    <p:sldId id="318" r:id="rId18"/>
    <p:sldId id="32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40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1F1F1F"/>
                </a:solidFill>
                <a:latin typeface="Times New Roman"/>
                <a:cs typeface="Times New Roman"/>
              </a:defRPr>
            </a:pPr>
            <a:r>
              <a:rPr lang="en-GB" sz="1400" b="1">
                <a:solidFill>
                  <a:srgbClr val="1F1F1F"/>
                </a:solidFill>
                <a:latin typeface="Times New Roman"/>
                <a:cs typeface="Times New Roman"/>
              </a:rPr>
              <a:t>Tokens (million)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(million)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ED1C24"/>
              </a:solidFill>
            </c:spPr>
            <c:extLst>
              <c:ext xmlns:c16="http://schemas.microsoft.com/office/drawing/2014/chart" uri="{C3380CC4-5D6E-409C-BE32-E72D297353CC}">
                <c16:uniqueId val="{00000001-549D-42D6-BF90-AB673C02AD33}"/>
              </c:ext>
            </c:extLst>
          </c:dPt>
          <c:dLbls>
            <c:numFmt formatCode="#,##0.0##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1F1F1F"/>
                    </a:solidFill>
                    <a:latin typeface="Times New Roman"/>
                    <a:cs typeface="Times New Roman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Uncached input</c:v>
                </c:pt>
                <c:pt idx="1">
                  <c:v>Cache writes</c:v>
                </c:pt>
                <c:pt idx="2">
                  <c:v>Cache reads</c:v>
                </c:pt>
                <c:pt idx="3">
                  <c:v>Output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1E-3</c:v>
                </c:pt>
                <c:pt idx="1">
                  <c:v>4.3</c:v>
                </c:pt>
                <c:pt idx="2">
                  <c:v>149.1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9D-42D6-BF90-AB673C02A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50010001"/>
        <c:axId val="50010002"/>
      </c:barChart>
      <c:catAx>
        <c:axId val="50010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Times New Roman"/>
                <a:cs typeface="Times New Roman"/>
              </a:defRPr>
            </a:pPr>
            <a:endParaRPr lang="en-GB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  <c:max val="181.90199999999999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1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404040"/>
          </a:solidFill>
          <a:latin typeface="Times New Roman"/>
          <a:cs typeface="Times New Roman"/>
        </a:defRPr>
      </a:pPr>
      <a:endParaRPr lang="en-GB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1F1F1F"/>
                </a:solidFill>
                <a:latin typeface="Times New Roman"/>
                <a:cs typeface="Times New Roman"/>
              </a:defRPr>
            </a:pPr>
            <a:r>
              <a:rPr lang="en-GB" sz="1400" b="1">
                <a:solidFill>
                  <a:srgbClr val="1F1F1F"/>
                </a:solidFill>
                <a:latin typeface="Times New Roman"/>
                <a:cs typeface="Times New Roman"/>
              </a:rPr>
              <a:t>Cost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ED1C24"/>
              </a:solidFill>
            </c:spPr>
            <c:extLst>
              <c:ext xmlns:c16="http://schemas.microsoft.com/office/drawing/2014/chart" uri="{C3380CC4-5D6E-409C-BE32-E72D297353CC}">
                <c16:uniqueId val="{00000001-11E1-45B7-9DEB-DE9AEAA4697F}"/>
              </c:ext>
            </c:extLst>
          </c:dPt>
          <c:dLbls>
            <c:numFmt formatCode="&quot;$&quot;#,##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1F1F1F"/>
                    </a:solidFill>
                    <a:latin typeface="Times New Roman"/>
                    <a:cs typeface="Times New Roman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Uncached input ($4/1M)</c:v>
                </c:pt>
                <c:pt idx="1">
                  <c:v>Cache writes/M ($8/1M)</c:v>
                </c:pt>
                <c:pt idx="2">
                  <c:v>Cache writes/H ($5/1M)</c:v>
                </c:pt>
                <c:pt idx="3">
                  <c:v>Cache reads ($0.20/1M)</c:v>
                </c:pt>
                <c:pt idx="4">
                  <c:v>Output ($20/1M)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31.64</c:v>
                </c:pt>
                <c:pt idx="2">
                  <c:v>2.3199999999999998</c:v>
                </c:pt>
                <c:pt idx="3">
                  <c:v>29.88</c:v>
                </c:pt>
                <c:pt idx="4">
                  <c:v>13.19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E1-45B7-9DEB-DE9AEAA46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50010001"/>
        <c:axId val="50010002"/>
      </c:barChart>
      <c:catAx>
        <c:axId val="50010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Times New Roman"/>
                <a:cs typeface="Times New Roman"/>
              </a:defRPr>
            </a:pPr>
            <a:endParaRPr lang="en-GB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  <c:max val="38.600999999999999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1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404040"/>
          </a:solidFill>
          <a:latin typeface="Times New Roman"/>
          <a:cs typeface="Times New Roman"/>
        </a:defRPr>
      </a:pPr>
      <a:endParaRPr lang="en-GB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1F1F1F"/>
                </a:solidFill>
                <a:latin typeface="Times New Roman"/>
                <a:cs typeface="Times New Roman"/>
              </a:defRPr>
            </a:pPr>
            <a:r>
              <a:rPr lang="en-GB" sz="1400" b="1">
                <a:solidFill>
                  <a:srgbClr val="1F1F1F"/>
                </a:solidFill>
                <a:latin typeface="Times New Roman"/>
                <a:cs typeface="Times New Roman"/>
              </a:rPr>
              <a:t>Tokens (million)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(million)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ED1C24"/>
              </a:solidFill>
            </c:spPr>
            <c:extLst>
              <c:ext xmlns:c16="http://schemas.microsoft.com/office/drawing/2014/chart" uri="{C3380CC4-5D6E-409C-BE32-E72D297353CC}">
                <c16:uniqueId val="{00000001-4436-4FCF-B9D7-AC1B4685A602}"/>
              </c:ext>
            </c:extLst>
          </c:dPt>
          <c:dLbls>
            <c:numFmt formatCode="#,##0.0##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1F1F1F"/>
                    </a:solidFill>
                    <a:latin typeface="Times New Roman"/>
                    <a:cs typeface="Times New Roman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Uncached input</c:v>
                </c:pt>
                <c:pt idx="1">
                  <c:v>Cache writes</c:v>
                </c:pt>
                <c:pt idx="2">
                  <c:v>Cache reads</c:v>
                </c:pt>
                <c:pt idx="3">
                  <c:v>Output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2E-3</c:v>
                </c:pt>
                <c:pt idx="1">
                  <c:v>5.3</c:v>
                </c:pt>
                <c:pt idx="2">
                  <c:v>532.70000000000005</c:v>
                </c:pt>
                <c:pt idx="3">
                  <c:v>1.49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36-4FCF-B9D7-AC1B4685A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50010001"/>
        <c:axId val="50010002"/>
      </c:barChart>
      <c:catAx>
        <c:axId val="50010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Times New Roman"/>
                <a:cs typeface="Times New Roman"/>
              </a:defRPr>
            </a:pPr>
            <a:endParaRPr lang="en-GB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  <c:max val="649.89400000000001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1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404040"/>
          </a:solidFill>
          <a:latin typeface="Times New Roman"/>
          <a:cs typeface="Times New Roman"/>
        </a:defRPr>
      </a:pPr>
      <a:endParaRPr lang="en-GB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1F1F1F"/>
                </a:solidFill>
                <a:latin typeface="Times New Roman"/>
                <a:cs typeface="Times New Roman"/>
              </a:defRPr>
            </a:pPr>
            <a:r>
              <a:rPr lang="en-GB" sz="1400" b="1">
                <a:solidFill>
                  <a:srgbClr val="1F1F1F"/>
                </a:solidFill>
                <a:latin typeface="Times New Roman"/>
                <a:cs typeface="Times New Roman"/>
              </a:rPr>
              <a:t>Cost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ED1C24"/>
              </a:solidFill>
            </c:spPr>
            <c:extLst>
              <c:ext xmlns:c16="http://schemas.microsoft.com/office/drawing/2014/chart" uri="{C3380CC4-5D6E-409C-BE32-E72D297353CC}">
                <c16:uniqueId val="{00000001-B5D8-4EA2-976A-A3CD013E47DE}"/>
              </c:ext>
            </c:extLst>
          </c:dPt>
          <c:dLbls>
            <c:numFmt formatCode="&quot;$&quot;#,##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1F1F1F"/>
                    </a:solidFill>
                    <a:latin typeface="Times New Roman"/>
                    <a:cs typeface="Times New Roman"/>
                  </a:defRPr>
                </a:pPr>
                <a:endParaRPr lang="en-GB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Uncached input ($4/1M)</c:v>
                </c:pt>
                <c:pt idx="1">
                  <c:v>Cache writes/M ($8/1M)</c:v>
                </c:pt>
                <c:pt idx="2">
                  <c:v>Cache writes/H ($5/1M)</c:v>
                </c:pt>
                <c:pt idx="3">
                  <c:v>Cache reads ($0.20/1M)</c:v>
                </c:pt>
                <c:pt idx="4">
                  <c:v>Output ($20/1M)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32.4</c:v>
                </c:pt>
                <c:pt idx="2">
                  <c:v>3.53</c:v>
                </c:pt>
                <c:pt idx="3">
                  <c:v>106.71</c:v>
                </c:pt>
                <c:pt idx="4">
                  <c:v>24.41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D8-4EA2-976A-A3CD013E4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50010001"/>
        <c:axId val="50010002"/>
      </c:barChart>
      <c:catAx>
        <c:axId val="50010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Times New Roman"/>
                <a:cs typeface="Times New Roman"/>
              </a:defRPr>
            </a:pPr>
            <a:endParaRPr lang="en-GB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  <c:max val="130.18600000000001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1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404040"/>
          </a:solidFill>
          <a:latin typeface="Times New Roman"/>
          <a:cs typeface="Times New Roman"/>
        </a:defRPr>
      </a:pPr>
      <a:endParaRPr lang="en-GB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EE6A-9A91-4AF6-9C0C-4704A379C61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55F72-1538-4DF9-BE29-271655C4D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20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55F72-1538-4DF9-BE29-271655C4DF4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646F-E466-828E-05B0-03B8E1DE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F4977-EFB8-8B52-9D57-402BD73A3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6CA81-CF4E-5DC6-3758-79235CB2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79287-16BF-93BB-251B-B670B7C1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2F02-E0F2-D91C-5C6C-68692F03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5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8B3D-7BBA-53BD-5339-CE00FD43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DD0E2-B464-A6D0-9BC1-8492C3010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822A7-83D4-8DD3-5A58-0F5D0FF7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257EB-A8E9-A796-CB8A-EEA88016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3286-9B2B-DECF-09D2-EB69F461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1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C785-5D5D-551C-BFE9-DC758AD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DBE17-677B-048C-EDED-64458155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A3368-B09D-ECF0-DC8E-5E8B9BCC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55A06-4293-4D51-8DFE-A8A4C30E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26FC1-7DC7-DBF0-9CA8-2A0481DC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23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C64A-BE6C-C6AE-DCC8-002B9DC5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69E60-9AAF-21DD-0E13-D9A7F7747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05746-0806-7BAC-BD70-91DD4BE69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D010B-3C2D-ACDF-770C-3E4751572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7A7A2-E27B-B7EC-7137-3F4C0857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61FB5-853A-BC50-3DB4-31F41D06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804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1C09-5A97-7360-618D-D8A3E4B5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B2EFF-3F5F-4A47-6F10-E90460ACC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46901-7C63-B5F6-3DDB-289827B2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E8507-12AA-70FC-D5F7-4BBEE2B92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BA1D0-9004-95B1-3C3C-431F8205D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360C9-70D4-84C9-B955-727573BB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D1C28-2DF6-9BED-0FF6-46DC2076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DDC7E-C2B0-9F67-A957-43F749C7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41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3161-641E-DF84-A6D8-140E2F29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B8B95F-3DD3-CF9A-375F-677534B8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71AAF-DB21-85DE-05B4-86F42573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39070-CFC0-1816-9128-201B767C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9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E533A-F631-B5C8-9284-D5EB9197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E8FE8-18BD-3A52-91AA-BBB9BA97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0B7A5-1427-3B8C-DC67-7FC9E588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09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4367-C804-C277-AFDC-F665122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869EB-9744-D22E-FB05-ECD265C6B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21C37-3211-C29F-7680-23C4CE39C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8E543-C937-3E0F-E2F7-FCDB032D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8E911-4A06-F00D-3CB0-439AD6CC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07AB6-4F4B-C928-1683-D2ED9971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68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E2C7-1869-AC3D-09F5-5220D8F1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82F6D-3B7A-7EDE-5305-46E79FE39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52D98-E923-E5A1-AD49-FD1644CCD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5BC5D-CFB9-3F57-A976-20D9132A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0783B-484B-A538-1045-576E65C1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50B61-27CF-DA5D-13A1-AE8EE9DF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27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0D74-EFE2-7A17-9653-FEF687CB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4178F-5B6A-50E1-834E-83A883643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1DCCC-C3DC-C195-775C-CF994A5A4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9BA6-F838-4CE1-CB35-4F1B99B7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66474-9A9C-C568-49FE-B1A4FCFE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73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81B72-E90C-0248-D25F-FEC869183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AFC0E-7F2B-82E3-5DC1-B4B0D63A6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9B967-B376-56DF-C2C4-9DD2A20B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F2EB6-0885-B23A-D2CB-5D3B046F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C5BA0-E295-FEB6-7AAA-DD296995D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82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7348E-F958-C695-8DB5-8FB8A297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B72E6-83D1-FFE4-F10D-CB5BD45AD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D6D3-15B3-92C8-EA23-D98BC7BF4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21B74-1ACB-4959-AF83-A17C9CB9EC35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69E59-2788-BD0F-F295-2433EB359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38FA2-DAF5-7F7E-039A-B0019DB83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03AC1-42E2-4AC1-A7A0-CD87B1EEC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40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ixelpixx/KiCAD-MCP-Serv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u_powerlab.png">
            <a:extLst>
              <a:ext uri="{FF2B5EF4-FFF2-40B4-BE49-F238E27FC236}">
                <a16:creationId xmlns:a16="http://schemas.microsoft.com/office/drawing/2014/main" id="{2B654CAE-2294-9177-212E-7AA1089F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753" y="3615145"/>
            <a:ext cx="2922494" cy="519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B7C9E-B3F4-C147-B4CD-9FC908948406}"/>
              </a:ext>
            </a:extLst>
          </p:cNvPr>
          <p:cNvSpPr txBox="1"/>
          <p:nvPr/>
        </p:nvSpPr>
        <p:spPr>
          <a:xfrm>
            <a:off x="2663810" y="2591812"/>
            <a:ext cx="68643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Design Experiments with Claude</a:t>
            </a:r>
            <a:b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Ekrem Turan Fırat</a:t>
            </a:r>
            <a:b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09/2026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Picture 101" descr="Mini motor driver 3D r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6" y="4434840"/>
            <a:ext cx="2453640" cy="1874520"/>
          </a:xfrm>
          <a:prstGeom prst="rect">
            <a:avLst/>
          </a:prstGeom>
        </p:spPr>
      </p:pic>
      <p:pic>
        <p:nvPicPr>
          <p:cNvPr id="102" name="Picture 102" descr="ESP32 ESC 3D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716" y="4434840"/>
            <a:ext cx="2899102" cy="187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0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607B-DABB-541A-C91C-9E63F372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DEC0-CF90-74D8-7EA2-8052953D2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of PCB Design with Claude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Desktop and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Workflow Runs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Motor Driver(First Design Attempt)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and General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Infos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Claude’s Cost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Ruleset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 and PCB</a:t>
            </a:r>
          </a:p>
          <a:p>
            <a:pPr marL="971550" lvl="1" indent="-514350">
              <a:buFont typeface="+mj-lt"/>
              <a:buAutoNum type="arabicPeriod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ESC (Second Design Attempt)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and General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Infos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Design Tools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PR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Claude’s Cost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dirty="0">
                <a:latin typeface="Times New Roman"/>
                <a:cs typeface="Times New Roman"/>
              </a:rPr>
              <a:t>Attempt 1 vs Attempt 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1800" dirty="0">
                <a:latin typeface="Times New Roman"/>
                <a:cs typeface="Times New Roman"/>
              </a:rPr>
              <a:t>Attempt 1 vs Attempt 2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Logo" descr="METU Power Lab logo">
            <a:extLst>
              <a:ext uri="{FF2B5EF4-FFF2-40B4-BE49-F238E27FC236}">
                <a16:creationId xmlns:a16="http://schemas.microsoft.com/office/drawing/2014/main" id="{29D1F0C3-7098-4D3F-FDDC-3D05CD46B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5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EBB2-4B9A-AFCF-26AE-2C935BAF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 Claude Desktop and KiCad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BD5B-43DD-16CC-41FE-195B38C52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KiCad MCP (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github.com/mixelpixx/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KiCAD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-MCP-Server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KiCad 9.0+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18+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3.11+</a:t>
            </a:r>
          </a:p>
          <a:p>
            <a:pPr lv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Metu_powerlab.png">
            <a:extLst>
              <a:ext uri="{FF2B5EF4-FFF2-40B4-BE49-F238E27FC236}">
                <a16:creationId xmlns:a16="http://schemas.microsoft.com/office/drawing/2014/main" id="{5AA3B61D-C396-F5AC-2B70-C79FB8911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56D9BB-6463-C260-F531-45ABAC97F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376" y="4001294"/>
            <a:ext cx="6795247" cy="1769243"/>
          </a:xfrm>
          <a:prstGeom prst="rect">
            <a:avLst/>
          </a:prstGeom>
        </p:spPr>
      </p:pic>
      <p:sp>
        <p:nvSpPr>
          <p:cNvPr id="101" name="Slide Number 10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3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217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1.2  How the Workflow Runs</a:t>
            </a:r>
          </a:p>
        </p:txBody>
      </p:sp>
      <p:sp>
        <p:nvSpPr>
          <p:cNvPr id="101" name="Shape 101"/>
          <p:cNvSpPr/>
          <p:nvPr/>
        </p:nvSpPr>
        <p:spPr>
          <a:xfrm>
            <a:off x="838200" y="2733404"/>
            <a:ext cx="2286000" cy="1417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1F1F1F"/>
                </a:solidFill>
                <a:latin typeface="Times New Roman"/>
                <a:cs typeface="Times New Roman"/>
              </a:rPr>
              <a:t>Engineer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595959"/>
                </a:solidFill>
                <a:latin typeface="Times New Roman"/>
                <a:cs typeface="Times New Roman"/>
              </a:rPr>
              <a:t>Requirements prompt + lab design ruleset</a:t>
            </a:r>
          </a:p>
        </p:txBody>
      </p:sp>
      <p:cxnSp>
        <p:nvCxnSpPr>
          <p:cNvPr id="102" name="Connector 102"/>
          <p:cNvCxnSpPr/>
          <p:nvPr/>
        </p:nvCxnSpPr>
        <p:spPr>
          <a:xfrm>
            <a:off x="3179064" y="3442064"/>
            <a:ext cx="347472" cy="0"/>
          </a:xfrm>
          <a:prstGeom prst="straightConnector1">
            <a:avLst/>
          </a:prstGeom>
          <a:ln w="28575">
            <a:solidFill>
              <a:srgbClr val="1F1F1F"/>
            </a:solidFill>
            <a:tailEnd type="triangle" w="med" len="med"/>
          </a:ln>
        </p:spPr>
      </p:cxnSp>
      <p:cxnSp>
        <p:nvCxnSpPr>
          <p:cNvPr id="104" name="Connector 104"/>
          <p:cNvCxnSpPr/>
          <p:nvPr/>
        </p:nvCxnSpPr>
        <p:spPr>
          <a:xfrm>
            <a:off x="5922264" y="3442064"/>
            <a:ext cx="347472" cy="0"/>
          </a:xfrm>
          <a:prstGeom prst="straightConnector1">
            <a:avLst/>
          </a:prstGeom>
          <a:ln w="28575">
            <a:solidFill>
              <a:srgbClr val="1F1F1F"/>
            </a:solidFill>
            <a:tailEnd type="triangle" w="med" len="med"/>
          </a:ln>
        </p:spPr>
      </p:cxnSp>
      <p:sp>
        <p:nvSpPr>
          <p:cNvPr id="105" name="Shape 105"/>
          <p:cNvSpPr/>
          <p:nvPr/>
        </p:nvSpPr>
        <p:spPr>
          <a:xfrm>
            <a:off x="6324600" y="2733404"/>
            <a:ext cx="2286000" cy="1417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1F1F1F"/>
                </a:solidFill>
                <a:latin typeface="Times New Roman"/>
                <a:cs typeface="Times New Roman"/>
              </a:rPr>
              <a:t>Tool layer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595959"/>
                </a:solidFill>
                <a:latin typeface="Times New Roman"/>
                <a:cs typeface="Times New Roman"/>
              </a:rPr>
              <a:t>KiCad MCP server, kicad-cli, KiCad Python API, Freerouting</a:t>
            </a:r>
          </a:p>
        </p:txBody>
      </p:sp>
      <p:cxnSp>
        <p:nvCxnSpPr>
          <p:cNvPr id="106" name="Connector 106"/>
          <p:cNvCxnSpPr/>
          <p:nvPr/>
        </p:nvCxnSpPr>
        <p:spPr>
          <a:xfrm>
            <a:off x="8665464" y="3442064"/>
            <a:ext cx="347472" cy="0"/>
          </a:xfrm>
          <a:prstGeom prst="straightConnector1">
            <a:avLst/>
          </a:prstGeom>
          <a:ln w="28575">
            <a:solidFill>
              <a:srgbClr val="1F1F1F"/>
            </a:solidFill>
            <a:tailEnd type="triangle" w="med" len="med"/>
          </a:ln>
        </p:spPr>
      </p:cxnSp>
      <p:sp>
        <p:nvSpPr>
          <p:cNvPr id="107" name="Shape 107"/>
          <p:cNvSpPr/>
          <p:nvPr/>
        </p:nvSpPr>
        <p:spPr>
          <a:xfrm>
            <a:off x="9067800" y="2733404"/>
            <a:ext cx="2286000" cy="1417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1F1F1F"/>
                </a:solidFill>
                <a:latin typeface="Times New Roman"/>
                <a:cs typeface="Times New Roman"/>
              </a:rPr>
              <a:t>KiCad project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595959"/>
                </a:solidFill>
                <a:latin typeface="Times New Roman"/>
                <a:cs typeface="Times New Roman"/>
              </a:rPr>
              <a:t>Schematic, PCB, libraries and fab outputs</a:t>
            </a:r>
          </a:p>
        </p:txBody>
      </p:sp>
      <p:cxnSp>
        <p:nvCxnSpPr>
          <p:cNvPr id="108" name="Connector 108"/>
          <p:cNvCxnSpPr/>
          <p:nvPr/>
        </p:nvCxnSpPr>
        <p:spPr>
          <a:xfrm>
            <a:off x="10210800" y="4196444"/>
            <a:ext cx="0" cy="594360"/>
          </a:xfrm>
          <a:prstGeom prst="straightConnector1">
            <a:avLst/>
          </a:prstGeom>
          <a:ln w="22225">
            <a:solidFill>
              <a:srgbClr val="ED1C24"/>
            </a:solidFill>
          </a:ln>
        </p:spPr>
      </p:cxnSp>
      <p:cxnSp>
        <p:nvCxnSpPr>
          <p:cNvPr id="109" name="Connector 109"/>
          <p:cNvCxnSpPr/>
          <p:nvPr/>
        </p:nvCxnSpPr>
        <p:spPr>
          <a:xfrm flipH="1">
            <a:off x="4724400" y="4790804"/>
            <a:ext cx="5486400" cy="0"/>
          </a:xfrm>
          <a:prstGeom prst="straightConnector1">
            <a:avLst/>
          </a:prstGeom>
          <a:ln w="22225">
            <a:solidFill>
              <a:srgbClr val="ED1C24"/>
            </a:solidFill>
          </a:ln>
        </p:spPr>
      </p:cxnSp>
      <p:cxnSp>
        <p:nvCxnSpPr>
          <p:cNvPr id="110" name="Connector 110"/>
          <p:cNvCxnSpPr/>
          <p:nvPr/>
        </p:nvCxnSpPr>
        <p:spPr>
          <a:xfrm flipV="1">
            <a:off x="4724400" y="4214732"/>
            <a:ext cx="0" cy="576072"/>
          </a:xfrm>
          <a:prstGeom prst="straightConnector1">
            <a:avLst/>
          </a:prstGeom>
          <a:ln w="22225">
            <a:solidFill>
              <a:srgbClr val="ED1C24"/>
            </a:solidFill>
            <a:tailEnd type="triangle" w="med" len="med"/>
          </a:ln>
        </p:spPr>
      </p:cxnSp>
      <p:sp>
        <p:nvSpPr>
          <p:cNvPr id="111" name="TextBox 111"/>
          <p:cNvSpPr txBox="1"/>
          <p:nvPr/>
        </p:nvSpPr>
        <p:spPr>
          <a:xfrm>
            <a:off x="4980432" y="4854812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i="1" dirty="0">
                <a:solidFill>
                  <a:srgbClr val="595959"/>
                </a:solidFill>
                <a:latin typeface="Times New Roman"/>
                <a:cs typeface="Times New Roman"/>
              </a:rPr>
              <a:t>ERC / DRC reports, netlist checks and 3D renders go back to Claude, which fixes and re-checks until clean</a:t>
            </a:r>
          </a:p>
        </p:txBody>
      </p:sp>
      <p:sp>
        <p:nvSpPr>
          <p:cNvPr id="116" name="Slide Number 116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4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pic>
        <p:nvPicPr>
          <p:cNvPr id="3" name="Logo" descr="METU Power Lab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6" name="Shape 101">
            <a:extLst>
              <a:ext uri="{FF2B5EF4-FFF2-40B4-BE49-F238E27FC236}">
                <a16:creationId xmlns:a16="http://schemas.microsoft.com/office/drawing/2014/main" id="{087284A8-6C1C-4299-0430-B474E5A65799}"/>
              </a:ext>
            </a:extLst>
          </p:cNvPr>
          <p:cNvSpPr/>
          <p:nvPr/>
        </p:nvSpPr>
        <p:spPr>
          <a:xfrm>
            <a:off x="3581400" y="2733404"/>
            <a:ext cx="2286000" cy="1417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GB" sz="2000" b="1" dirty="0">
                <a:latin typeface="Times New Roman"/>
                <a:cs typeface="Times New Roman"/>
              </a:rPr>
              <a:t>Claude</a:t>
            </a:r>
            <a:endParaRPr lang="en-GB" sz="2400" b="1" dirty="0">
              <a:latin typeface="Times New Roman"/>
              <a:cs typeface="Times New Roman"/>
            </a:endParaRPr>
          </a:p>
          <a:p>
            <a:pPr algn="ctr"/>
            <a:r>
              <a:rPr lang="en-GB" sz="1400" dirty="0">
                <a:latin typeface="Times New Roman"/>
                <a:cs typeface="Times New Roman"/>
              </a:rPr>
              <a:t>Researches parts, does datasheet math, writes build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47E88-B9D5-390A-7C1C-AD36D4FA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 First Design Attempt (Mini Motor Driver)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3635-C3D1-5390-B06D-A32F0BDAB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Prompt: “We want to create a coin-sized 3-phase motor driver, speed must be controlled using a single signal. The driver’s IC must be all-in-one(control + gate driver + MCU).”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IC: MCF8315C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Connectors: JST GH 6-pin, Hirose DF65 3-pin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symbols, footprints and 3D models generated from scratch by Claude's scripts</a:t>
            </a:r>
          </a:p>
          <a:p>
            <a:pPr marL="457200" lvl="1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MiniMotorWithIntegratedDriver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Metu_powerlab.png">
            <a:extLst>
              <a:ext uri="{FF2B5EF4-FFF2-40B4-BE49-F238E27FC236}">
                <a16:creationId xmlns:a16="http://schemas.microsoft.com/office/drawing/2014/main" id="{0B093ADA-FC0D-42D8-1003-451023372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101" name="Slide Number 10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5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544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E980-E147-890D-73D4-DEF02D20E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 Schematic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A287A4-8416-2AE5-DAFA-925C29AD7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000" t="26000" r="26000" b="10000"/>
          <a:stretch>
            <a:fillRect/>
          </a:stretch>
        </p:blipFill>
        <p:spPr>
          <a:xfrm>
            <a:off x="548640" y="1645920"/>
            <a:ext cx="5702223" cy="4526280"/>
          </a:xfrm>
          <a:prstGeom prst="rect">
            <a:avLst/>
          </a:prstGeom>
        </p:spPr>
      </p:pic>
      <p:pic>
        <p:nvPicPr>
          <p:cNvPr id="7" name="Picture 6" descr="Metu_powerlab.png">
            <a:extLst>
              <a:ext uri="{FF2B5EF4-FFF2-40B4-BE49-F238E27FC236}">
                <a16:creationId xmlns:a16="http://schemas.microsoft.com/office/drawing/2014/main" id="{1BBB786E-E269-8139-FA8F-A3EE57897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6812280" y="182880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U1 MCF8315C: sensorless FOC BLDC driver, control and power stage in one IC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J2 (Hirose DF65, 3-pin): supply input with bulk and bypass caps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J1 (JST GH, 6-pin): speed, direction and brake inputs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U / V / W pads to the motor, test pads TP1–TP5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One A4 sheet, cropped here to the circuit</a:t>
            </a:r>
          </a:p>
        </p:txBody>
      </p:sp>
      <p:sp>
        <p:nvSpPr>
          <p:cNvPr id="102" name="Slide Number 102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6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572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6FD2-E1FF-D3BD-D81A-8A4EF489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2.3  PCB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9B16E-D623-BFF3-B56A-DB779EE28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988" y="2156853"/>
            <a:ext cx="4431629" cy="3385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775D8-0E08-BEBD-A154-3D381395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166" y="1690688"/>
            <a:ext cx="5038574" cy="2495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1A278E-C15D-006E-72C2-FA190B27D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855" y="4490470"/>
            <a:ext cx="6402157" cy="15517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22590D-9751-88BC-5CF3-846F93E2DE9C}"/>
              </a:ext>
            </a:extLst>
          </p:cNvPr>
          <p:cNvSpPr txBox="1"/>
          <p:nvPr/>
        </p:nvSpPr>
        <p:spPr>
          <a:xfrm>
            <a:off x="6598024" y="1202070"/>
            <a:ext cx="54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E4740-B793-293B-A878-8435150F07FF}"/>
              </a:ext>
            </a:extLst>
          </p:cNvPr>
          <p:cNvSpPr txBox="1"/>
          <p:nvPr/>
        </p:nvSpPr>
        <p:spPr>
          <a:xfrm>
            <a:off x="8982635" y="1321356"/>
            <a:ext cx="886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A5F4D7-F68E-D4E4-E6D1-33879FC7C3D3}"/>
              </a:ext>
            </a:extLst>
          </p:cNvPr>
          <p:cNvSpPr txBox="1"/>
          <p:nvPr/>
        </p:nvSpPr>
        <p:spPr>
          <a:xfrm>
            <a:off x="5825765" y="5976832"/>
            <a:ext cx="54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57334E-B661-C998-4862-B43EF1DD0255}"/>
              </a:ext>
            </a:extLst>
          </p:cNvPr>
          <p:cNvSpPr txBox="1"/>
          <p:nvPr/>
        </p:nvSpPr>
        <p:spPr>
          <a:xfrm>
            <a:off x="10533529" y="5976832"/>
            <a:ext cx="886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</a:p>
        </p:txBody>
      </p:sp>
      <p:pic>
        <p:nvPicPr>
          <p:cNvPr id="19" name="Picture 18" descr="Metu_powerlab.png">
            <a:extLst>
              <a:ext uri="{FF2B5EF4-FFF2-40B4-BE49-F238E27FC236}">
                <a16:creationId xmlns:a16="http://schemas.microsoft.com/office/drawing/2014/main" id="{2E5216E2-3844-9467-08EB-CE23ED8B2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0F6DF58-2EB3-C046-DEEC-16BB330D29E6}"/>
              </a:ext>
            </a:extLst>
          </p:cNvPr>
          <p:cNvSpPr txBox="1"/>
          <p:nvPr/>
        </p:nvSpPr>
        <p:spPr>
          <a:xfrm>
            <a:off x="510988" y="56075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Ø28 mm, 4-layer board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DRC: 0 errors, 28 silkscreen warnings</a:t>
            </a:r>
          </a:p>
        </p:txBody>
      </p:sp>
      <p:sp>
        <p:nvSpPr>
          <p:cNvPr id="101" name="Slide Number 10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7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364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2.4  Claude’s Cost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41248" y="173736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 b="1" dirty="0">
                <a:latin typeface="Times New Roman"/>
                <a:cs typeface="Times New Roman"/>
              </a:rPr>
              <a:t>$77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41248" y="2697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595959"/>
                </a:solidFill>
                <a:latin typeface="Times New Roman"/>
                <a:cs typeface="Times New Roman"/>
              </a:rPr>
              <a:t>total cost at API rates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41248" y="324612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F1F1F"/>
                </a:solidFill>
                <a:latin typeface="Times New Roman"/>
                <a:cs typeface="Times New Roman"/>
              </a:rPr>
              <a:t>154.2 M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41248" y="3840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595959"/>
                </a:solidFill>
                <a:latin typeface="Times New Roman"/>
                <a:cs typeface="Times New Roman"/>
              </a:rPr>
              <a:t>tokens processed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41248" y="438912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F1F1F"/>
                </a:solidFill>
                <a:latin typeface="Times New Roman"/>
                <a:cs typeface="Times New Roman"/>
              </a:rPr>
              <a:t>96.7 %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41248" y="498348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595959"/>
                </a:solidFill>
                <a:latin typeface="Times New Roman"/>
                <a:cs typeface="Times New Roman"/>
              </a:rPr>
              <a:t>of all tokens were cache reads ($0.20 / 1M); they make up 39 % of the cost</a:t>
            </a:r>
          </a:p>
        </p:txBody>
      </p:sp>
      <p:graphicFrame>
        <p:nvGraphicFramePr>
          <p:cNvPr id="107" name="Chart 107"/>
          <p:cNvGraphicFramePr/>
          <p:nvPr/>
        </p:nvGraphicFramePr>
        <p:xfrm>
          <a:off x="4480560" y="1645920"/>
          <a:ext cx="6858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8" name="Chart 108"/>
          <p:cNvGraphicFramePr/>
          <p:nvPr/>
        </p:nvGraphicFramePr>
        <p:xfrm>
          <a:off x="4480560" y="3977640"/>
          <a:ext cx="6858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Slide Number 109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8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pic>
        <p:nvPicPr>
          <p:cNvPr id="3" name="Logo" descr="METU Power Lab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CA1B-4EBA-F024-AAE5-94EDF8F5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3.1  Design Ruleset – Schematic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D99F-A5B0-02F5-304D-58BD34150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Rules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setup and title block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 structure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PowerLabKiCadLibraries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Wiring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naming and power symbols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classes and power-net styling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notes on the schematic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text</a:t>
            </a:r>
          </a:p>
          <a:p>
            <a:pPr marL="457200" lvl="1" indent="0">
              <a:buNone/>
            </a:pPr>
            <a:br>
              <a:rPr lang="en-GB" dirty="0"/>
            </a:br>
            <a:endParaRPr lang="en-GB" dirty="0"/>
          </a:p>
        </p:txBody>
      </p:sp>
      <p:pic>
        <p:nvPicPr>
          <p:cNvPr id="5" name="Picture 4" descr="Metu_powerlab.png">
            <a:extLst>
              <a:ext uri="{FF2B5EF4-FFF2-40B4-BE49-F238E27FC236}">
                <a16:creationId xmlns:a16="http://schemas.microsoft.com/office/drawing/2014/main" id="{713CC00B-A336-0FA8-12B3-AE07ECF16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87C952-3355-40E0-9001-97CBA6C8905E}"/>
              </a:ext>
            </a:extLst>
          </p:cNvPr>
          <p:cNvSpPr txBox="1"/>
          <p:nvPr/>
        </p:nvSpPr>
        <p:spPr>
          <a:xfrm>
            <a:off x="838200" y="5757568"/>
            <a:ext cx="7237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github.com/odtu/Powerlab/blob/master/KiCAD/PCB_DESIGN_RULES.md</a:t>
            </a:r>
          </a:p>
        </p:txBody>
      </p:sp>
      <p:sp>
        <p:nvSpPr>
          <p:cNvPr id="101" name="Slide Number 10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9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242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BE7F-D59D-40E1-0F61-33C12AB4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D620-6437-4164-B6CD-90D55FD0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3.2  Design Ruleset – PCB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0CF32-F0B1-72D7-E19C-445A13C08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 limits and DRC values 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PCBWay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layout rules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setup, outline and fixed parts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Copper pours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Silkscreen and board information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Metu_powerlab.png">
            <a:extLst>
              <a:ext uri="{FF2B5EF4-FFF2-40B4-BE49-F238E27FC236}">
                <a16:creationId xmlns:a16="http://schemas.microsoft.com/office/drawing/2014/main" id="{5E0ACE75-8D84-37ED-A646-6A92C5E8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EBEC7-52B0-426D-AC98-A6E5ADBA4447}"/>
              </a:ext>
            </a:extLst>
          </p:cNvPr>
          <p:cNvSpPr txBox="1"/>
          <p:nvPr/>
        </p:nvSpPr>
        <p:spPr>
          <a:xfrm>
            <a:off x="838200" y="5757568"/>
            <a:ext cx="7237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github.com/odtu/Powerlab/blob/master/KiCAD/PCB_DESIGN_RULES.md</a:t>
            </a:r>
          </a:p>
        </p:txBody>
      </p:sp>
      <p:sp>
        <p:nvSpPr>
          <p:cNvPr id="101" name="Slide Number 10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10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803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95157-8513-4ECC-6FA0-FE73DD41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00D0-5B53-3484-88C6-3E91D0C0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 Second Design Attempt (ESP32 ESC)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6DE70-6CA0-33B0-49E6-FAADD2C20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Prompt: “I want to create a 3-Phase ESC with ESP32-Wroom. Input voltage range must be 12-36V and continuous phase current is 5-10A. Make PCB design according to ruleset.”</a:t>
            </a:r>
          </a:p>
        </p:txBody>
      </p:sp>
      <p:pic>
        <p:nvPicPr>
          <p:cNvPr id="5" name="Picture 4" descr="Metu_powerlab.png">
            <a:extLst>
              <a:ext uri="{FF2B5EF4-FFF2-40B4-BE49-F238E27FC236}">
                <a16:creationId xmlns:a16="http://schemas.microsoft.com/office/drawing/2014/main" id="{38B9C6E2-0CAD-96AD-8B46-EE8AD02B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84A64D-B44D-46BC-7C25-B6FBE7B88BDD}"/>
              </a:ext>
            </a:extLst>
          </p:cNvPr>
          <p:cNvSpPr txBox="1"/>
          <p:nvPr/>
        </p:nvSpPr>
        <p:spPr>
          <a:xfrm>
            <a:off x="838200" y="5806440"/>
            <a:ext cx="426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ekremturanfirat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ClaudeTestPCB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101"/>
          <p:cNvSpPr/>
          <p:nvPr/>
        </p:nvSpPr>
        <p:spPr>
          <a:xfrm>
            <a:off x="841248" y="338328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Input &amp; protection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TVS, LM74700 reverse polarity, TPS16890 eFuse</a:t>
            </a:r>
          </a:p>
        </p:txBody>
      </p:sp>
      <p:sp>
        <p:nvSpPr>
          <p:cNvPr id="102" name="Shape 102"/>
          <p:cNvSpPr/>
          <p:nvPr/>
        </p:nvSpPr>
        <p:spPr>
          <a:xfrm>
            <a:off x="3584448" y="338328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DC-bus sensing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5 mΩ shunt + INA240A1</a:t>
            </a:r>
          </a:p>
        </p:txBody>
      </p:sp>
      <p:sp>
        <p:nvSpPr>
          <p:cNvPr id="103" name="Shape 103"/>
          <p:cNvSpPr/>
          <p:nvPr/>
        </p:nvSpPr>
        <p:spPr>
          <a:xfrm>
            <a:off x="6327648" y="338328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Power stage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3 half bridges, 80 V MOSFETs</a:t>
            </a:r>
          </a:p>
        </p:txBody>
      </p:sp>
      <p:sp>
        <p:nvSpPr>
          <p:cNvPr id="104" name="Shape 104"/>
          <p:cNvSpPr/>
          <p:nvPr/>
        </p:nvSpPr>
        <p:spPr>
          <a:xfrm>
            <a:off x="9070848" y="338328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Motor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Phases A / B / C</a:t>
            </a:r>
          </a:p>
        </p:txBody>
      </p:sp>
      <p:sp>
        <p:nvSpPr>
          <p:cNvPr id="105" name="Shape 105"/>
          <p:cNvSpPr/>
          <p:nvPr/>
        </p:nvSpPr>
        <p:spPr>
          <a:xfrm>
            <a:off x="841248" y="466344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CAN + UART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SN65HVD230 transceiver</a:t>
            </a:r>
          </a:p>
        </p:txBody>
      </p:sp>
      <p:sp>
        <p:nvSpPr>
          <p:cNvPr id="107" name="Shape 107"/>
          <p:cNvSpPr/>
          <p:nvPr/>
        </p:nvSpPr>
        <p:spPr>
          <a:xfrm>
            <a:off x="6327648" y="466344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Gate driver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DRV8323RS + current-sense amps</a:t>
            </a:r>
          </a:p>
        </p:txBody>
      </p:sp>
      <p:sp>
        <p:nvSpPr>
          <p:cNvPr id="108" name="Shape 108"/>
          <p:cNvSpPr/>
          <p:nvPr/>
        </p:nvSpPr>
        <p:spPr>
          <a:xfrm>
            <a:off x="9070848" y="466344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1F1F1F"/>
                </a:solidFill>
                <a:latin typeface="Times New Roman"/>
                <a:cs typeface="Times New Roman"/>
              </a:rPr>
              <a:t>3.3 V supply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95959"/>
                </a:solidFill>
                <a:latin typeface="Times New Roman"/>
                <a:cs typeface="Times New Roman"/>
              </a:rPr>
              <a:t>LMR38020 buck from the bus</a:t>
            </a:r>
          </a:p>
        </p:txBody>
      </p:sp>
      <p:cxnSp>
        <p:nvCxnSpPr>
          <p:cNvPr id="109" name="Connector 109"/>
          <p:cNvCxnSpPr/>
          <p:nvPr/>
        </p:nvCxnSpPr>
        <p:spPr>
          <a:xfrm>
            <a:off x="3172968" y="3803904"/>
            <a:ext cx="365760" cy="0"/>
          </a:xfrm>
          <a:prstGeom prst="straightConnector1">
            <a:avLst/>
          </a:prstGeom>
          <a:ln w="28575">
            <a:solidFill>
              <a:srgbClr val="1F1F1F"/>
            </a:solidFill>
            <a:tailEnd type="triangle" w="med" len="med"/>
          </a:ln>
        </p:spPr>
      </p:cxnSp>
      <p:cxnSp>
        <p:nvCxnSpPr>
          <p:cNvPr id="110" name="Connector 110"/>
          <p:cNvCxnSpPr/>
          <p:nvPr/>
        </p:nvCxnSpPr>
        <p:spPr>
          <a:xfrm>
            <a:off x="5916168" y="3803904"/>
            <a:ext cx="365760" cy="0"/>
          </a:xfrm>
          <a:prstGeom prst="straightConnector1">
            <a:avLst/>
          </a:prstGeom>
          <a:ln w="28575">
            <a:solidFill>
              <a:srgbClr val="1F1F1F"/>
            </a:solidFill>
            <a:tailEnd type="triangle" w="med" len="med"/>
          </a:ln>
        </p:spPr>
      </p:cxnSp>
      <p:cxnSp>
        <p:nvCxnSpPr>
          <p:cNvPr id="111" name="Connector 111"/>
          <p:cNvCxnSpPr/>
          <p:nvPr/>
        </p:nvCxnSpPr>
        <p:spPr>
          <a:xfrm>
            <a:off x="8659368" y="3803904"/>
            <a:ext cx="365760" cy="0"/>
          </a:xfrm>
          <a:prstGeom prst="straightConnector1">
            <a:avLst/>
          </a:prstGeom>
          <a:ln w="28575">
            <a:solidFill>
              <a:srgbClr val="1F1F1F"/>
            </a:solidFill>
            <a:tailEnd type="triangle" w="med" len="med"/>
          </a:ln>
        </p:spPr>
      </p:cxnSp>
      <p:cxnSp>
        <p:nvCxnSpPr>
          <p:cNvPr id="112" name="Connector 112"/>
          <p:cNvCxnSpPr/>
          <p:nvPr/>
        </p:nvCxnSpPr>
        <p:spPr>
          <a:xfrm>
            <a:off x="3172968" y="5084064"/>
            <a:ext cx="36576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cxnSp>
        <p:nvCxnSpPr>
          <p:cNvPr id="113" name="Connector 113"/>
          <p:cNvCxnSpPr/>
          <p:nvPr/>
        </p:nvCxnSpPr>
        <p:spPr>
          <a:xfrm flipH="1">
            <a:off x="3172968" y="5084064"/>
            <a:ext cx="36576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cxnSp>
        <p:nvCxnSpPr>
          <p:cNvPr id="114" name="Connector 114"/>
          <p:cNvCxnSpPr/>
          <p:nvPr/>
        </p:nvCxnSpPr>
        <p:spPr>
          <a:xfrm>
            <a:off x="5916168" y="5084064"/>
            <a:ext cx="36576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cxnSp>
        <p:nvCxnSpPr>
          <p:cNvPr id="115" name="Connector 115"/>
          <p:cNvCxnSpPr/>
          <p:nvPr/>
        </p:nvCxnSpPr>
        <p:spPr>
          <a:xfrm flipV="1">
            <a:off x="7470648" y="4270248"/>
            <a:ext cx="0" cy="347472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116" name="TextBox 116"/>
          <p:cNvSpPr txBox="1"/>
          <p:nvPr/>
        </p:nvSpPr>
        <p:spPr>
          <a:xfrm>
            <a:off x="7543800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1" dirty="0">
                <a:solidFill>
                  <a:srgbClr val="595959"/>
                </a:solidFill>
                <a:latin typeface="Times New Roman"/>
                <a:cs typeface="Times New Roman"/>
              </a:rPr>
              <a:t>gates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888736" y="4754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 dirty="0">
                <a:solidFill>
                  <a:srgbClr val="595959"/>
                </a:solidFill>
                <a:latin typeface="Times New Roman"/>
                <a:cs typeface="Times New Roman"/>
              </a:rPr>
              <a:t>PWM</a:t>
            </a:r>
          </a:p>
        </p:txBody>
      </p:sp>
      <p:sp>
        <p:nvSpPr>
          <p:cNvPr id="118" name="Slide Number 118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11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sp>
        <p:nvSpPr>
          <p:cNvPr id="10" name="Shape 105">
            <a:extLst>
              <a:ext uri="{FF2B5EF4-FFF2-40B4-BE49-F238E27FC236}">
                <a16:creationId xmlns:a16="http://schemas.microsoft.com/office/drawing/2014/main" id="{18159327-7DE5-2CEF-9BF0-1982B66CD5D2}"/>
              </a:ext>
            </a:extLst>
          </p:cNvPr>
          <p:cNvSpPr/>
          <p:nvPr/>
        </p:nvSpPr>
        <p:spPr>
          <a:xfrm>
            <a:off x="3566160" y="4663440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GB" sz="1600" b="1" dirty="0">
                <a:latin typeface="Times New Roman"/>
                <a:cs typeface="Times New Roman"/>
              </a:rPr>
              <a:t>ESP32-WROOM-32E</a:t>
            </a:r>
          </a:p>
          <a:p>
            <a:pPr algn="ctr"/>
            <a:r>
              <a:rPr lang="en-GB" sz="1200" dirty="0">
                <a:latin typeface="Times New Roman"/>
                <a:cs typeface="Times New Roman"/>
              </a:rPr>
              <a:t>PWM, ADC, SPI, CAN</a:t>
            </a:r>
          </a:p>
        </p:txBody>
      </p:sp>
    </p:spTree>
    <p:extLst>
      <p:ext uri="{BB962C8B-B14F-4D97-AF65-F5344CB8AC3E}">
        <p14:creationId xmlns:p14="http://schemas.microsoft.com/office/powerpoint/2010/main" val="3517158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8812-7375-5FD9-2014-13E79785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 Schematic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50429F-69D7-5836-30B1-DDF6617EE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1463040"/>
            <a:ext cx="6855198" cy="4846320"/>
          </a:xfrm>
          <a:prstGeom prst="rect">
            <a:avLst/>
          </a:prstGeom>
        </p:spPr>
      </p:pic>
      <p:pic>
        <p:nvPicPr>
          <p:cNvPr id="9" name="Picture 8" descr="Metu_powerlab.png">
            <a:extLst>
              <a:ext uri="{FF2B5EF4-FFF2-40B4-BE49-F238E27FC236}">
                <a16:creationId xmlns:a16="http://schemas.microsoft.com/office/drawing/2014/main" id="{3FB7FC0C-EA2D-FB2C-A715-2C7F073D8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7726680" y="1600200"/>
            <a:ext cx="3840480" cy="4663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1F1F1F"/>
                </a:solidFill>
                <a:latin typeface="Times New Roman"/>
                <a:cs typeface="Times New Roman"/>
              </a:rPr>
              <a:t>11 hierarchical sheets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Overview (root)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Power input &amp; protection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3.3 V power supply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DC-bus current sensing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MCU core (ESP32)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Gate drive (DRV8323RS)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Power stage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Half bridge A / B / C (one sheet, used 3×)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Communication (CAN)</a:t>
            </a:r>
          </a:p>
          <a:p>
            <a:pPr marL="0" indent="0" algn="l">
              <a:spcBef>
                <a:spcPts val="140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rgbClr val="1F1F1F"/>
                </a:solidFill>
                <a:latin typeface="Times New Roman"/>
                <a:cs typeface="Times New Roman"/>
              </a:rPr>
              <a:t>Checks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ERC: 0 errors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Netlist check: 79 nets, 0 shorts, 0 opens</a:t>
            </a:r>
          </a:p>
        </p:txBody>
      </p:sp>
      <p:sp>
        <p:nvSpPr>
          <p:cNvPr id="102" name="Slide Number 102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12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5598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66AA-4972-5D1C-7FDE-538322EB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4.3  PCB Design</a:t>
            </a:r>
          </a:p>
        </p:txBody>
      </p:sp>
      <p:pic>
        <p:nvPicPr>
          <p:cNvPr id="4" name="Content Placeholder 3" descr="ESC3Phase_angled.png">
            <a:extLst>
              <a:ext uri="{FF2B5EF4-FFF2-40B4-BE49-F238E27FC236}">
                <a16:creationId xmlns:a16="http://schemas.microsoft.com/office/drawing/2014/main" id="{06F9E410-483E-5EE4-9E5C-70B71B28F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13542" y="2155633"/>
            <a:ext cx="4311201" cy="2787564"/>
          </a:xfrm>
          <a:prstGeom prst="rect">
            <a:avLst/>
          </a:prstGeom>
        </p:spPr>
      </p:pic>
      <p:pic>
        <p:nvPicPr>
          <p:cNvPr id="5" name="Picture 4" descr="ESC3Phase_bottom.png">
            <a:extLst>
              <a:ext uri="{FF2B5EF4-FFF2-40B4-BE49-F238E27FC236}">
                <a16:creationId xmlns:a16="http://schemas.microsoft.com/office/drawing/2014/main" id="{48A13E07-7EF3-2308-0E40-3BA44992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091" y="2141712"/>
            <a:ext cx="3140741" cy="278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266696-CD65-7F24-0133-41491BC70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617" y="705773"/>
            <a:ext cx="3212220" cy="2899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E113FF-39BF-6576-D2E9-0712E1D19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617" y="3791960"/>
            <a:ext cx="3212220" cy="28997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58A758-27B8-5B0F-5DB4-3A6AB57A3AA8}"/>
              </a:ext>
            </a:extLst>
          </p:cNvPr>
          <p:cNvSpPr txBox="1"/>
          <p:nvPr/>
        </p:nvSpPr>
        <p:spPr>
          <a:xfrm>
            <a:off x="797693" y="5500000"/>
            <a:ext cx="44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× 90 mm, 4-layer board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DRC: 0 errors, 2 silkscreen warnings</a:t>
            </a:r>
          </a:p>
        </p:txBody>
      </p:sp>
      <p:pic>
        <p:nvPicPr>
          <p:cNvPr id="13" name="Picture 12" descr="Metu_powerlab.png">
            <a:extLst>
              <a:ext uri="{FF2B5EF4-FFF2-40B4-BE49-F238E27FC236}">
                <a16:creationId xmlns:a16="http://schemas.microsoft.com/office/drawing/2014/main" id="{BF51A0FE-3FD3-3813-659C-0BB7FDE22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101" name="Slide Number 10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13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7782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F876-598A-3D43-1BB4-5F74A2774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003C-E817-AE06-9F6B-813A96D4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4.4  PCB Design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EFA48-DAE9-C028-C0B1-10A55F4ED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Freerouting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2.4.1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F62F0-DE7D-3FD5-9ABB-1D7F3CE8BDDC}"/>
              </a:ext>
            </a:extLst>
          </p:cNvPr>
          <p:cNvSpPr txBox="1"/>
          <p:nvPr/>
        </p:nvSpPr>
        <p:spPr>
          <a:xfrm>
            <a:off x="838200" y="5806440"/>
            <a:ext cx="727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github.com/ekremturanfirat/ClaudeTestPCB/tree/main/hardware/tools/pcb</a:t>
            </a:r>
          </a:p>
        </p:txBody>
      </p:sp>
      <p:pic>
        <p:nvPicPr>
          <p:cNvPr id="14" name="Picture 13" descr="Metu_powerlab.png">
            <a:extLst>
              <a:ext uri="{FF2B5EF4-FFF2-40B4-BE49-F238E27FC236}">
                <a16:creationId xmlns:a16="http://schemas.microsoft.com/office/drawing/2014/main" id="{116F2DE0-D47C-BC40-18BC-AAB723FF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  <p:sp>
        <p:nvSpPr>
          <p:cNvPr id="111" name="Slide Number 111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14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717E5-8B19-22A1-E809-561C4B301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284" y="2817461"/>
            <a:ext cx="6659431" cy="285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8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4.5  Library Contributions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41248" y="16459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Parts that were missing or wrong in PowerLabKiCadLibraries were fixed at the source during the ESC work. All three pull requests are merged.</a:t>
            </a:r>
          </a:p>
        </p:txBody>
      </p:sp>
      <p:sp>
        <p:nvSpPr>
          <p:cNvPr id="102" name="Shape 102"/>
          <p:cNvSpPr/>
          <p:nvPr/>
        </p:nvSpPr>
        <p:spPr>
          <a:xfrm>
            <a:off x="841248" y="2514600"/>
            <a:ext cx="3291840" cy="2606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dirty="0"/>
          </a:p>
        </p:txBody>
      </p:sp>
      <p:sp>
        <p:nvSpPr>
          <p:cNvPr id="103" name="Shape 103"/>
          <p:cNvSpPr/>
          <p:nvPr/>
        </p:nvSpPr>
        <p:spPr>
          <a:xfrm>
            <a:off x="3081528" y="272491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merged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069848" y="265176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3200" b="1" dirty="0">
                <a:latin typeface="Times New Roman"/>
                <a:cs typeface="Times New Roman"/>
              </a:rPr>
              <a:t>PR #2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 dirty="0">
                <a:solidFill>
                  <a:srgbClr val="1F1F1F"/>
                </a:solidFill>
                <a:latin typeface="Times New Roman"/>
                <a:cs typeface="Times New Roman"/>
              </a:rPr>
              <a:t>New part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ESP32-WROOM-32E symbol and footprint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Needed for the ESC's MCU</a:t>
            </a:r>
          </a:p>
        </p:txBody>
      </p:sp>
      <p:sp>
        <p:nvSpPr>
          <p:cNvPr id="105" name="Shape 105"/>
          <p:cNvSpPr/>
          <p:nvPr/>
        </p:nvSpPr>
        <p:spPr>
          <a:xfrm>
            <a:off x="4453128" y="2514600"/>
            <a:ext cx="3291840" cy="2606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dirty="0"/>
          </a:p>
        </p:txBody>
      </p:sp>
      <p:sp>
        <p:nvSpPr>
          <p:cNvPr id="106" name="Shape 106"/>
          <p:cNvSpPr/>
          <p:nvPr/>
        </p:nvSpPr>
        <p:spPr>
          <a:xfrm>
            <a:off x="6693408" y="272491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merged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681728" y="265176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3200" b="1" dirty="0">
                <a:latin typeface="Times New Roman"/>
                <a:cs typeface="Times New Roman"/>
              </a:rPr>
              <a:t>PR #3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 dirty="0">
                <a:solidFill>
                  <a:srgbClr val="1F1F1F"/>
                </a:solidFill>
                <a:latin typeface="Times New Roman"/>
                <a:cs typeface="Times New Roman"/>
              </a:rPr>
              <a:t>Additions and fixes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Power symbols, mounting holes, fiducials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Test pads and net ties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ESP32 footprint fix</a:t>
            </a:r>
          </a:p>
        </p:txBody>
      </p:sp>
      <p:sp>
        <p:nvSpPr>
          <p:cNvPr id="108" name="Shape 108"/>
          <p:cNvSpPr/>
          <p:nvPr/>
        </p:nvSpPr>
        <p:spPr>
          <a:xfrm>
            <a:off x="8065008" y="2514600"/>
            <a:ext cx="3291840" cy="2606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dirty="0"/>
          </a:p>
        </p:txBody>
      </p:sp>
      <p:sp>
        <p:nvSpPr>
          <p:cNvPr id="109" name="Shape 109"/>
          <p:cNvSpPr/>
          <p:nvPr/>
        </p:nvSpPr>
        <p:spPr>
          <a:xfrm>
            <a:off x="10305288" y="272491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merged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293608" y="265176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3200" b="1" dirty="0">
                <a:latin typeface="Times New Roman"/>
                <a:cs typeface="Times New Roman"/>
              </a:rPr>
              <a:t>PR #5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 dirty="0">
                <a:solidFill>
                  <a:srgbClr val="1F1F1F"/>
                </a:solidFill>
                <a:latin typeface="Times New Roman"/>
                <a:cs typeface="Times New Roman"/>
              </a:rPr>
              <a:t>Fixes found during layout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Mask margin 0.1 → 0.05 mm on 0.5 mm-pitch QFNs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Exposed pads and 0.6 mm thermal vias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Logo + QR graphics, ESP32 3D model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41248" y="5349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1F1F1F"/>
                </a:solidFill>
                <a:latin typeface="Times New Roman"/>
                <a:cs typeface="Times New Roman"/>
              </a:rPr>
              <a:t>github.com/odtu/PowerLabKiCadLibraries</a:t>
            </a:r>
          </a:p>
        </p:txBody>
      </p:sp>
      <p:sp>
        <p:nvSpPr>
          <p:cNvPr id="112" name="Slide Number 112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15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pic>
        <p:nvPicPr>
          <p:cNvPr id="3" name="Logo" descr="METU Power Lab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4.7  Claude’s Cost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41248" y="173736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 b="1" dirty="0">
                <a:latin typeface="Times New Roman"/>
                <a:cs typeface="Times New Roman"/>
              </a:rPr>
              <a:t>$167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41248" y="2697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595959"/>
                </a:solidFill>
                <a:latin typeface="Times New Roman"/>
                <a:cs typeface="Times New Roman"/>
              </a:rPr>
              <a:t>total cost at API rates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41248" y="324612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F1F1F"/>
                </a:solidFill>
                <a:latin typeface="Times New Roman"/>
                <a:cs typeface="Times New Roman"/>
              </a:rPr>
              <a:t>540 M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41248" y="38404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595959"/>
                </a:solidFill>
                <a:latin typeface="Times New Roman"/>
                <a:cs typeface="Times New Roman"/>
              </a:rPr>
              <a:t>tokens processed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41248" y="438912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F1F1F"/>
                </a:solidFill>
                <a:latin typeface="Times New Roman"/>
                <a:cs typeface="Times New Roman"/>
              </a:rPr>
              <a:t>98.6 %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41248" y="498348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595959"/>
                </a:solidFill>
                <a:latin typeface="Times New Roman"/>
                <a:cs typeface="Times New Roman"/>
              </a:rPr>
              <a:t>of all tokens were cache reads ($0.20 / 1M); they make up 64 % of the cost</a:t>
            </a:r>
          </a:p>
        </p:txBody>
      </p:sp>
      <p:graphicFrame>
        <p:nvGraphicFramePr>
          <p:cNvPr id="107" name="Chart 107"/>
          <p:cNvGraphicFramePr/>
          <p:nvPr/>
        </p:nvGraphicFramePr>
        <p:xfrm>
          <a:off x="4480560" y="1645920"/>
          <a:ext cx="6858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8" name="Chart 108"/>
          <p:cNvGraphicFramePr/>
          <p:nvPr/>
        </p:nvGraphicFramePr>
        <p:xfrm>
          <a:off x="4480560" y="3977640"/>
          <a:ext cx="6858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Slide Number 109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16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pic>
        <p:nvPicPr>
          <p:cNvPr id="3" name="Logo" descr="METU Power Lab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/>
                <a:cs typeface="Times New Roman"/>
              </a:rPr>
              <a:t>5.1  Attempt 1 vs Attempt 2</a:t>
            </a:r>
          </a:p>
        </p:txBody>
      </p:sp>
      <p:graphicFrame>
        <p:nvGraphicFramePr>
          <p:cNvPr id="101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872424"/>
              </p:ext>
            </p:extLst>
          </p:nvPr>
        </p:nvGraphicFramePr>
        <p:xfrm>
          <a:off x="841248" y="1783080"/>
          <a:ext cx="10515600" cy="4114800"/>
        </p:xfrm>
        <a:graphic>
          <a:graphicData uri="http://schemas.openxmlformats.org/drawingml/2006/table">
            <a:tbl>
              <a:tblPr firstRow="1" bandRow="1"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Attempt 1: Mini Motor Driver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Attempt 2: ESP32 ESC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Board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Ø28 mm, 4 layers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100 × 90 mm, 4 layers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Footprints on board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29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141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Schematic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 sheet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11 sheets (hierarchical)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Lab design ruleset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Not used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Used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DRC result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0 errors, 28 silkscreen warnings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0 errors, 2 silkscreen warnings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Design Time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10 Hours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10 Hours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Tokens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154 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540 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1F1F1F"/>
                          </a:solidFill>
                          <a:latin typeface="Times New Roman"/>
                          <a:cs typeface="Times New Roman"/>
                        </a:rPr>
                        <a:t>Cost at API rates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ED1C24"/>
                          </a:solidFill>
                          <a:latin typeface="Times New Roman"/>
                          <a:cs typeface="Times New Roman"/>
                        </a:rPr>
                        <a:t>$77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ED1C24"/>
                          </a:solidFill>
                          <a:latin typeface="Times New Roman"/>
                          <a:cs typeface="Times New Roman"/>
                        </a:rPr>
                        <a:t>$167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" name="Slide Number 102"/>
          <p:cNvSpPr txBox="1"/>
          <p:nvPr/>
        </p:nvSpPr>
        <p:spPr>
          <a:xfrm>
            <a:off x="10972800" y="6446168"/>
            <a:ext cx="914400" cy="41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GB" sz="1200" dirty="0">
                <a:solidFill>
                  <a:srgbClr val="7F7F7F"/>
                </a:solidFill>
                <a:latin typeface="Times New Roman"/>
                <a:cs typeface="Times New Roman"/>
              </a:rPr>
              <a:t>17</a:t>
            </a:fld>
            <a:endParaRPr lang="en-GB" sz="1200" dirty="0">
              <a:solidFill>
                <a:srgbClr val="7F7F7F"/>
              </a:solidFill>
              <a:latin typeface="Times New Roman"/>
              <a:cs typeface="Times New Roman"/>
            </a:endParaRPr>
          </a:p>
        </p:txBody>
      </p:sp>
      <p:pic>
        <p:nvPicPr>
          <p:cNvPr id="3" name="Logo" descr="METU Power Lab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6168"/>
            <a:ext cx="2316554" cy="4118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01"/>
          <p:cNvSpPr txBox="1"/>
          <p:nvPr/>
        </p:nvSpPr>
        <p:spPr>
          <a:xfrm>
            <a:off x="1828800" y="2011680"/>
            <a:ext cx="8531352" cy="1143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1F1F1F"/>
                </a:solidFill>
                <a:latin typeface="Times New Roman"/>
                <a:cs typeface="Times New Roman"/>
              </a:rPr>
              <a:t>Thank you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595959"/>
                </a:solidFill>
                <a:latin typeface="Times New Roman"/>
                <a:cs typeface="Times New Roman"/>
              </a:rPr>
              <a:t>Q/A</a:t>
            </a:r>
          </a:p>
        </p:txBody>
      </p:sp>
      <p:pic>
        <p:nvPicPr>
          <p:cNvPr id="102" name="Picture 102" descr="METU Power Lab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753" y="3383280"/>
            <a:ext cx="2922494" cy="519555"/>
          </a:xfrm>
          <a:prstGeom prst="rect">
            <a:avLst/>
          </a:prstGeom>
        </p:spPr>
      </p:pic>
      <p:sp>
        <p:nvSpPr>
          <p:cNvPr id="103" name="TextBox 103"/>
          <p:cNvSpPr txBox="1"/>
          <p:nvPr/>
        </p:nvSpPr>
        <p:spPr>
          <a:xfrm>
            <a:off x="1828800" y="4206240"/>
            <a:ext cx="8531352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github.com/ekremturanfirat/ClaudeTestPCB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1F1F1F"/>
                </a:solidFill>
                <a:latin typeface="Times New Roman"/>
                <a:cs typeface="Times New Roman"/>
              </a:rPr>
              <a:t>github.com/odtu/MiniMotorWithIntegratedDriver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990</Words>
  <Application>Microsoft Office PowerPoint</Application>
  <PresentationFormat>Widescreen</PresentationFormat>
  <Paragraphs>210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Contents</vt:lpstr>
      <vt:lpstr>1.1  Claude Desktop and KiCad Integration</vt:lpstr>
      <vt:lpstr>1.2  How the Workflow Runs</vt:lpstr>
      <vt:lpstr>2.1  First Design Attempt (Mini Motor Driver)</vt:lpstr>
      <vt:lpstr>2.2  Schematic Design</vt:lpstr>
      <vt:lpstr>2.3  PCB Design</vt:lpstr>
      <vt:lpstr>2.4  Claude’s Cost</vt:lpstr>
      <vt:lpstr>3.1  Design Ruleset – Schematic</vt:lpstr>
      <vt:lpstr>3.2  Design Ruleset – PCB</vt:lpstr>
      <vt:lpstr>4.1  Second Design Attempt (ESP32 ESC)</vt:lpstr>
      <vt:lpstr>4.2  Schematic Design</vt:lpstr>
      <vt:lpstr>4.3  PCB Design</vt:lpstr>
      <vt:lpstr>4.4  PCB Design Tools</vt:lpstr>
      <vt:lpstr>4.5  Library Contributions</vt:lpstr>
      <vt:lpstr>4.7  Claude’s Cost</vt:lpstr>
      <vt:lpstr>5.1  Attempt 1 vs Attempt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Ekrem Turan Fırat</dc:creator>
  <cp:lastModifiedBy>Ekrem Turan Fırat</cp:lastModifiedBy>
  <cp:revision>12</cp:revision>
  <dcterms:created xsi:type="dcterms:W3CDTF">2026-09-29T09:50:41Z</dcterms:created>
  <dcterms:modified xsi:type="dcterms:W3CDTF">2026-10-01T12:08:40Z</dcterms:modified>
</cp:coreProperties>
</file>